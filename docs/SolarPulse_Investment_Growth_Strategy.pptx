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
  </p:notesMasterIdLst>
  <p:sldIdLst>
    <p:sldId id="256" r:id="rId2"/>
    <p:sldId id="272" r:id="rId3"/>
    <p:sldId id="265" r:id="rId4"/>
    <p:sldId id="299" r:id="rId5"/>
    <p:sldId id="300" r:id="rId6"/>
    <p:sldId id="301" r:id="rId7"/>
    <p:sldId id="302" r:id="rId8"/>
    <p:sldId id="286" r:id="rId9"/>
  </p:sldIdLst>
  <p:sldSz cx="11658600" cy="6562725"/>
  <p:notesSz cx="6858000" cy="9144000"/>
  <p:embeddedFontLst>
    <p:embeddedFont>
      <p:font typeface="Bahnschrift Condensed" panose="020B0502040204020203" pitchFamily="34" charset="0"/>
      <p:regular r:id="rId11"/>
      <p:bold r:id="rId12"/>
    </p:embeddedFont>
    <p:embeddedFont>
      <p:font typeface="Bebas Neue" panose="020B0606020202050201" pitchFamily="34" charset="0"/>
      <p:regular r:id="rId13"/>
    </p:embeddedFont>
    <p:embeddedFont>
      <p:font typeface="Roboto" panose="02000000000000000000" pitchFamily="2" charset="0"/>
      <p:regular r:id="rId14"/>
      <p:bold r:id="rId15"/>
      <p:italic r:id="rId16"/>
      <p:boldItalic r:id="rId17"/>
    </p:embeddedFont>
    <p:embeddedFont>
      <p:font typeface="Segoe Script" panose="030B0504020000000003" pitchFamily="66" charset="0"/>
      <p:regular r:id="rId18"/>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8500"/>
    <a:srgbClr val="FFB703"/>
    <a:srgbClr val="202227"/>
    <a:srgbClr val="F4C99C"/>
    <a:srgbClr val="DB9059"/>
    <a:srgbClr val="B99B47"/>
    <a:srgbClr val="FFC2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81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C3CE29-3137-415F-8A38-9CADDDA331AB}" type="datetimeFigureOut">
              <a:rPr lang="en-US" smtClean="0"/>
              <a:t>6/9/2026</a:t>
            </a:fld>
            <a:endParaRPr lang="en-US"/>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32C91-88FC-4B50-80A4-DCE3F5952413}" type="slidenum">
              <a:rPr lang="en-US" smtClean="0"/>
              <a:t>‹#›</a:t>
            </a:fld>
            <a:endParaRPr lang="en-US"/>
          </a:p>
        </p:txBody>
      </p:sp>
    </p:spTree>
    <p:extLst>
      <p:ext uri="{BB962C8B-B14F-4D97-AF65-F5344CB8AC3E}">
        <p14:creationId xmlns:p14="http://schemas.microsoft.com/office/powerpoint/2010/main" val="3896515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B32C91-88FC-4B50-80A4-DCE3F5952413}" type="slidenum">
              <a:rPr lang="en-US" smtClean="0"/>
              <a:t>1</a:t>
            </a:fld>
            <a:endParaRPr lang="en-US"/>
          </a:p>
        </p:txBody>
      </p:sp>
    </p:spTree>
    <p:extLst>
      <p:ext uri="{BB962C8B-B14F-4D97-AF65-F5344CB8AC3E}">
        <p14:creationId xmlns:p14="http://schemas.microsoft.com/office/powerpoint/2010/main" val="3621190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B32C91-88FC-4B50-80A4-DCE3F5952413}" type="slidenum">
              <a:rPr lang="en-US" smtClean="0"/>
              <a:t>8</a:t>
            </a:fld>
            <a:endParaRPr lang="en-US"/>
          </a:p>
        </p:txBody>
      </p:sp>
    </p:spTree>
    <p:extLst>
      <p:ext uri="{BB962C8B-B14F-4D97-AF65-F5344CB8AC3E}">
        <p14:creationId xmlns:p14="http://schemas.microsoft.com/office/powerpoint/2010/main" val="3831276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3" name="Rectangle 2"/>
          <p:cNvSpPr/>
          <p:nvPr/>
        </p:nvSpPr>
        <p:spPr>
          <a:xfrm>
            <a:off x="0" y="0"/>
            <a:ext cx="11658600" cy="656272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4" name="Rectangle 3"/>
          <p:cNvSpPr/>
          <p:nvPr/>
        </p:nvSpPr>
        <p:spPr>
          <a:xfrm>
            <a:off x="0" y="0"/>
            <a:ext cx="11658600" cy="59817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ectangle 4"/>
          <p:cNvSpPr/>
          <p:nvPr/>
        </p:nvSpPr>
        <p:spPr>
          <a:xfrm>
            <a:off x="0" y="0"/>
            <a:ext cx="4306788" cy="59817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6" name="Rounded Rectangle 5"/>
          <p:cNvSpPr/>
          <p:nvPr/>
        </p:nvSpPr>
        <p:spPr>
          <a:xfrm>
            <a:off x="1225547" y="5107172"/>
            <a:ext cx="1855694" cy="495300"/>
          </a:xfrm>
          <a:prstGeom prst="roundRect">
            <a:avLst>
              <a:gd name="adj" fmla="val 15384"/>
            </a:avLst>
          </a:prstGeom>
          <a:solidFill>
            <a:schemeClr val="tx1">
              <a:alpha val="10196"/>
            </a:schemeClr>
          </a:solidFill>
          <a:ln>
            <a:noFill/>
          </a:ln>
        </p:spPr>
        <p:style>
          <a:lnRef idx="1">
            <a:schemeClr val="accent1"/>
          </a:lnRef>
          <a:fillRef idx="3">
            <a:schemeClr val="accent1"/>
          </a:fillRef>
          <a:effectRef idx="0">
            <a:schemeClr val="accent1"/>
          </a:effectRef>
          <a:fontRef idx="minor">
            <a:schemeClr val="lt1"/>
          </a:fontRef>
        </p:style>
        <p:txBody>
          <a:bodyPr wrap="square" lIns="114300" tIns="114300" rIns="114300" bIns="114300" rtlCol="0" anchor="t"/>
          <a:lstStyle/>
          <a:p>
            <a:pPr algn="l">
              <a:lnSpc>
                <a:spcPts val="2100"/>
              </a:lnSpc>
            </a:pPr>
            <a:r>
              <a:rPr sz="2400" spc="-72" dirty="0">
                <a:solidFill>
                  <a:srgbClr val="FFB703"/>
                </a:solidFill>
                <a:latin typeface="Lora 400"/>
              </a:rPr>
              <a:t>DEPI Initiative</a:t>
            </a:r>
          </a:p>
        </p:txBody>
      </p:sp>
      <p:sp>
        <p:nvSpPr>
          <p:cNvPr id="8" name="Rectangle 7"/>
          <p:cNvSpPr/>
          <p:nvPr/>
        </p:nvSpPr>
        <p:spPr>
          <a:xfrm>
            <a:off x="4306788" y="0"/>
            <a:ext cx="7351811" cy="59817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9" name="Rectangle 8"/>
          <p:cNvSpPr/>
          <p:nvPr/>
        </p:nvSpPr>
        <p:spPr>
          <a:xfrm>
            <a:off x="4306788" y="0"/>
            <a:ext cx="7351811" cy="59817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pic>
        <p:nvPicPr>
          <p:cNvPr id="10" name="Picture 9" descr="image.png"/>
          <p:cNvPicPr>
            <a:picLocks noChangeAspect="1"/>
          </p:cNvPicPr>
          <p:nvPr/>
        </p:nvPicPr>
        <p:blipFill>
          <a:blip r:embed="rId3"/>
          <a:stretch>
            <a:fillRect/>
          </a:stretch>
        </p:blipFill>
        <p:spPr>
          <a:xfrm>
            <a:off x="4306788" y="0"/>
            <a:ext cx="7351811" cy="5981700"/>
          </a:xfrm>
          <a:prstGeom prst="rect">
            <a:avLst/>
          </a:prstGeom>
        </p:spPr>
      </p:pic>
      <p:sp>
        <p:nvSpPr>
          <p:cNvPr id="11" name="Rectangle 10"/>
          <p:cNvSpPr/>
          <p:nvPr/>
        </p:nvSpPr>
        <p:spPr>
          <a:xfrm>
            <a:off x="0" y="5981700"/>
            <a:ext cx="11658600" cy="58102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12" name="Rectangle 11"/>
          <p:cNvSpPr/>
          <p:nvPr/>
        </p:nvSpPr>
        <p:spPr>
          <a:xfrm>
            <a:off x="0" y="5981700"/>
            <a:ext cx="11658600" cy="581025"/>
          </a:xfrm>
          <a:prstGeom prst="rect">
            <a:avLst/>
          </a:prstGeom>
          <a:solidFill>
            <a:schemeClr val="tx1">
              <a:alpha val="10196"/>
            </a:schemeClr>
          </a:solid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dirty="0"/>
          </a:p>
        </p:txBody>
      </p:sp>
      <p:sp>
        <p:nvSpPr>
          <p:cNvPr id="13" name="Rounded Rectangle 12"/>
          <p:cNvSpPr/>
          <p:nvPr/>
        </p:nvSpPr>
        <p:spPr>
          <a:xfrm>
            <a:off x="5450508" y="4625639"/>
            <a:ext cx="5064370" cy="976833"/>
          </a:xfrm>
          <a:prstGeom prst="roundRect">
            <a:avLst>
              <a:gd name="adj" fmla="val 27586"/>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ts val="2100"/>
              </a:lnSpc>
            </a:pPr>
            <a:r>
              <a:rPr lang="en-US" sz="2400" b="1" dirty="0">
                <a:latin typeface="Calibri" panose="020F0502020204030204" pitchFamily="34" charset="0"/>
                <a:ea typeface="Calibri" panose="020F0502020204030204" pitchFamily="34" charset="0"/>
                <a:cs typeface="Calibri" panose="020F0502020204030204" pitchFamily="34" charset="0"/>
              </a:rPr>
              <a:t>نظام </a:t>
            </a:r>
            <a:r>
              <a:rPr lang="en-US" sz="2400" b="1" dirty="0" err="1">
                <a:latin typeface="Calibri" panose="020F0502020204030204" pitchFamily="34" charset="0"/>
                <a:ea typeface="Calibri" panose="020F0502020204030204" pitchFamily="34" charset="0"/>
                <a:cs typeface="Calibri" panose="020F0502020204030204" pitchFamily="34" charset="0"/>
              </a:rPr>
              <a:t>إدارة</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كفاءة</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وموثوقية</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الأصول</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الاستثمارية</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للطاقة</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الشمسية</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err="1">
                <a:latin typeface="Calibri" panose="020F0502020204030204" pitchFamily="34" charset="0"/>
                <a:ea typeface="Calibri" panose="020F0502020204030204" pitchFamily="34" charset="0"/>
                <a:cs typeface="Calibri" panose="020F0502020204030204" pitchFamily="34" charset="0"/>
              </a:rPr>
              <a:t>يونيو</a:t>
            </a:r>
            <a:r>
              <a:rPr lang="en-US" sz="2400" b="1" dirty="0">
                <a:latin typeface="Calibri" panose="020F0502020204030204" pitchFamily="34" charset="0"/>
                <a:ea typeface="Calibri" panose="020F0502020204030204" pitchFamily="34" charset="0"/>
                <a:cs typeface="Calibri" panose="020F0502020204030204" pitchFamily="34" charset="0"/>
              </a:rPr>
              <a:t> </a:t>
            </a:r>
            <a:r>
              <a:rPr lang="ar-EG" sz="2400" b="1" dirty="0">
                <a:latin typeface="Calibri" panose="020F0502020204030204" pitchFamily="34" charset="0"/>
                <a:ea typeface="Calibri" panose="020F0502020204030204" pitchFamily="34" charset="0"/>
                <a:cs typeface="Calibri" panose="020F0502020204030204" pitchFamily="34" charset="0"/>
              </a:rPr>
              <a:t>2026</a:t>
            </a:r>
          </a:p>
        </p:txBody>
      </p:sp>
      <p:sp>
        <p:nvSpPr>
          <p:cNvPr id="14" name="Text 2">
            <a:extLst>
              <a:ext uri="{FF2B5EF4-FFF2-40B4-BE49-F238E27FC236}">
                <a16:creationId xmlns:a16="http://schemas.microsoft.com/office/drawing/2014/main" id="{4C8C7B13-5751-F6A3-1230-1DAE2767385D}"/>
              </a:ext>
            </a:extLst>
          </p:cNvPr>
          <p:cNvSpPr/>
          <p:nvPr/>
        </p:nvSpPr>
        <p:spPr>
          <a:xfrm>
            <a:off x="457199" y="507649"/>
            <a:ext cx="5212080" cy="685800"/>
          </a:xfrm>
          <a:prstGeom prst="rect">
            <a:avLst/>
          </a:prstGeom>
          <a:noFill/>
          <a:ln/>
        </p:spPr>
        <p:txBody>
          <a:bodyPr wrap="square" lIns="254" tIns="254" rIns="254" bIns="254" rtlCol="0" anchor="ctr">
            <a:normAutofit fontScale="92500" lnSpcReduction="10000"/>
          </a:bodyPr>
          <a:lstStyle/>
          <a:p>
            <a:pPr marL="0" indent="0" algn="l">
              <a:buNone/>
            </a:pPr>
            <a:r>
              <a:rPr lang="en-US" sz="5200" b="1" dirty="0">
                <a:solidFill>
                  <a:srgbClr val="F8F8F6"/>
                </a:solidFill>
                <a:latin typeface="Bahnschrift Condensed" pitchFamily="34" charset="0"/>
                <a:ea typeface="Bahnschrift Condensed" pitchFamily="34" charset="-122"/>
                <a:cs typeface="Bahnschrift Condensed" pitchFamily="34" charset="-120"/>
              </a:rPr>
              <a:t>SOLARPULSE</a:t>
            </a:r>
            <a:endParaRPr lang="en-US" sz="5200" dirty="0"/>
          </a:p>
        </p:txBody>
      </p:sp>
      <p:sp>
        <p:nvSpPr>
          <p:cNvPr id="15" name="Text 3">
            <a:extLst>
              <a:ext uri="{FF2B5EF4-FFF2-40B4-BE49-F238E27FC236}">
                <a16:creationId xmlns:a16="http://schemas.microsoft.com/office/drawing/2014/main" id="{EC03E34A-0B2A-5561-3404-68D7853E5DE2}"/>
              </a:ext>
            </a:extLst>
          </p:cNvPr>
          <p:cNvSpPr/>
          <p:nvPr/>
        </p:nvSpPr>
        <p:spPr>
          <a:xfrm>
            <a:off x="457199" y="1061623"/>
            <a:ext cx="5212080" cy="731520"/>
          </a:xfrm>
          <a:prstGeom prst="rect">
            <a:avLst/>
          </a:prstGeom>
          <a:noFill/>
          <a:ln/>
        </p:spPr>
        <p:txBody>
          <a:bodyPr wrap="square" lIns="254" tIns="254" rIns="254" bIns="254" rtlCol="0" anchor="ctr">
            <a:normAutofit fontScale="92500" lnSpcReduction="10000"/>
          </a:bodyPr>
          <a:lstStyle/>
          <a:p>
            <a:pPr marL="0" indent="0" algn="l">
              <a:buNone/>
            </a:pPr>
            <a:r>
              <a:rPr lang="en-US" sz="5400" b="1" dirty="0">
                <a:solidFill>
                  <a:srgbClr val="FFC21A"/>
                </a:solidFill>
                <a:latin typeface="Bahnschrift Condensed" pitchFamily="34" charset="0"/>
                <a:ea typeface="Bahnschrift Condensed" pitchFamily="34" charset="-122"/>
                <a:cs typeface="Bahnschrift Condensed" pitchFamily="34" charset="-120"/>
              </a:rPr>
              <a:t>ANALYTICS</a:t>
            </a:r>
            <a:endParaRPr lang="en-US" sz="5400" dirty="0"/>
          </a:p>
        </p:txBody>
      </p:sp>
      <p:pic>
        <p:nvPicPr>
          <p:cNvPr id="2" name="Picture 1">
            <a:extLst>
              <a:ext uri="{FF2B5EF4-FFF2-40B4-BE49-F238E27FC236}">
                <a16:creationId xmlns:a16="http://schemas.microsoft.com/office/drawing/2014/main" id="{D528E569-87FC-245E-B852-3E14767F2DCA}"/>
              </a:ext>
            </a:extLst>
          </p:cNvPr>
          <p:cNvPicPr>
            <a:picLocks noChangeAspect="1"/>
          </p:cNvPicPr>
          <p:nvPr/>
        </p:nvPicPr>
        <p:blipFill>
          <a:blip r:embed="rId4"/>
          <a:srcRect t="10236" r="40196" b="14492"/>
          <a:stretch>
            <a:fillRect/>
          </a:stretch>
        </p:blipFill>
        <p:spPr>
          <a:xfrm>
            <a:off x="795426" y="2344189"/>
            <a:ext cx="2715936" cy="25656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p:nvPr/>
        </p:nvSpPr>
        <p:spPr>
          <a:xfrm>
            <a:off x="0" y="0"/>
            <a:ext cx="11658600" cy="660811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ounded Rectangle 4"/>
          <p:cNvSpPr/>
          <p:nvPr/>
        </p:nvSpPr>
        <p:spPr>
          <a:xfrm>
            <a:off x="485043" y="398644"/>
            <a:ext cx="10744200" cy="361950"/>
          </a:xfrm>
          <a:prstGeom prst="roundRect">
            <a:avLst>
              <a:gd name="adj" fmla="val 21052"/>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t"/>
          <a:lstStyle/>
          <a:p>
            <a:pPr algn="r" rtl="1">
              <a:lnSpc>
                <a:spcPts val="2700"/>
              </a:lnSpc>
            </a:pPr>
            <a:r>
              <a:rPr lang="ar-EG" sz="2400" b="1" spc="-96" dirty="0">
                <a:solidFill>
                  <a:srgbClr val="FFB703"/>
                </a:solidFill>
                <a:latin typeface="Calibri" panose="020F0502020204030204" pitchFamily="34" charset="0"/>
                <a:ea typeface="Calibri" panose="020F0502020204030204" pitchFamily="34" charset="0"/>
                <a:cs typeface="Calibri" panose="020F0502020204030204" pitchFamily="34" charset="0"/>
              </a:rPr>
              <a:t>1. الملخص التنفيذي</a:t>
            </a:r>
            <a:endParaRPr sz="2400" b="1" spc="-96" dirty="0">
              <a:solidFill>
                <a:srgbClr val="FFB703"/>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ounded Rectangle 5"/>
          <p:cNvSpPr/>
          <p:nvPr/>
        </p:nvSpPr>
        <p:spPr>
          <a:xfrm>
            <a:off x="809625" y="2560002"/>
            <a:ext cx="10095035" cy="2687660"/>
          </a:xfrm>
          <a:prstGeom prst="roundRect">
            <a:avLst>
              <a:gd name="adj" fmla="val 29629"/>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t"/>
          <a:lstStyle/>
          <a:p>
            <a:pPr algn="r" rtl="1">
              <a:lnSpc>
                <a:spcPct val="150000"/>
              </a:lnSpc>
            </a:pPr>
            <a:r>
              <a:rPr lang="ar-EG" sz="1600" b="1" spc="0" dirty="0">
                <a:solidFill>
                  <a:schemeClr val="bg1">
                    <a:alpha val="72156"/>
                  </a:schemeClr>
                </a:solidFill>
                <a:latin typeface="Calibri" panose="020F0502020204030204" pitchFamily="34" charset="0"/>
                <a:ea typeface="Calibri" panose="020F0502020204030204" pitchFamily="34" charset="0"/>
                <a:cs typeface="Calibri" panose="020F0502020204030204" pitchFamily="34" charset="0"/>
              </a:rPr>
              <a:t>تتمثل مهمتنا الجوهرية في إعادة صياغة إدارة الأصول الشمسية؛ حيث ننقل المحطات من مرحلة الأصول التقليدية التي تواجه مخاطر الإنتاج المتقلب والأعطال غير المرئية إلى مرحلة الأصول الذكية فائقة الأداء. </a:t>
            </a:r>
          </a:p>
          <a:p>
            <a:pPr algn="r" rtl="1">
              <a:lnSpc>
                <a:spcPct val="150000"/>
              </a:lnSpc>
            </a:pPr>
            <a:endParaRPr lang="ar-EG" sz="1600" b="1" dirty="0">
              <a:solidFill>
                <a:schemeClr val="bg1">
                  <a:alpha val="72156"/>
                </a:schemeClr>
              </a:solidFill>
              <a:latin typeface="Calibri" panose="020F0502020204030204" pitchFamily="34" charset="0"/>
              <a:ea typeface="Calibri" panose="020F0502020204030204" pitchFamily="34" charset="0"/>
              <a:cs typeface="Calibri" panose="020F0502020204030204" pitchFamily="34" charset="0"/>
            </a:endParaRPr>
          </a:p>
          <a:p>
            <a:pPr algn="r" rtl="1">
              <a:lnSpc>
                <a:spcPct val="150000"/>
              </a:lnSpc>
            </a:pPr>
            <a:r>
              <a:rPr lang="ar-EG" sz="1600" b="1" spc="0" dirty="0">
                <a:solidFill>
                  <a:schemeClr val="bg1">
                    <a:alpha val="72156"/>
                  </a:schemeClr>
                </a:solidFill>
                <a:latin typeface="Calibri" panose="020F0502020204030204" pitchFamily="34" charset="0"/>
                <a:ea typeface="Calibri" panose="020F0502020204030204" pitchFamily="34" charset="0"/>
                <a:cs typeface="Calibri" panose="020F0502020204030204" pitchFamily="34" charset="0"/>
              </a:rPr>
              <a:t>يعتمد نظامنا على محرك استراتيجي للتحليل التنبئي. يقوم بمسح شامل ومعالجة لحظية لبيانات المحطة، مما يتيح له استشراف اتجاهات الإنتاجية بدقة عالية وتحديد أي تراجع في كفاءة الأداء قبل أن يؤثر على الربحية. نحن نقدم للمستثمر نظاماً استباقياً لا يكتفي بإدارة المحطة بل يرفع من طاقتها التشغيلية ويحمي استثماراته من مخاطر التشغيل غير المدركة ليحول الأرقام المعقدة إلى رؤى واضحة وقرارات</a:t>
            </a:r>
            <a:r>
              <a:rPr lang="ar-EG" sz="1600" b="1" spc="0" dirty="0">
                <a:solidFill>
                  <a:srgbClr val="FFFFFF">
                    <a:alpha val="72156"/>
                  </a:srgbClr>
                </a:solidFill>
                <a:latin typeface="Calibri" panose="020F0502020204030204" pitchFamily="34" charset="0"/>
                <a:ea typeface="Calibri" panose="020F0502020204030204" pitchFamily="34" charset="0"/>
                <a:cs typeface="Calibri" panose="020F0502020204030204" pitchFamily="34" charset="0"/>
              </a:rPr>
              <a:t> تجارية فورية.</a:t>
            </a:r>
          </a:p>
        </p:txBody>
      </p:sp>
      <p:sp>
        <p:nvSpPr>
          <p:cNvPr id="8" name="Rectangle: Rounded Corners 7"/>
          <p:cNvSpPr/>
          <p:nvPr/>
        </p:nvSpPr>
        <p:spPr>
          <a:xfrm>
            <a:off x="682871" y="964239"/>
            <a:ext cx="10266485" cy="1436057"/>
          </a:xfrm>
          <a:prstGeom prst="roundRect">
            <a:avLst>
              <a:gd name="adj" fmla="val 5923"/>
            </a:avLst>
          </a:prstGeom>
          <a:solidFill>
            <a:schemeClr val="tx1">
              <a:lumMod val="95000"/>
              <a:lumOff val="5000"/>
            </a:schemeClr>
          </a:solid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dirty="0"/>
          </a:p>
        </p:txBody>
      </p:sp>
      <p:sp>
        <p:nvSpPr>
          <p:cNvPr id="50" name="TextBox 49">
            <a:extLst>
              <a:ext uri="{FF2B5EF4-FFF2-40B4-BE49-F238E27FC236}">
                <a16:creationId xmlns:a16="http://schemas.microsoft.com/office/drawing/2014/main" id="{F05E3B31-AE5E-6F04-E8FE-77B04B947CA1}"/>
              </a:ext>
            </a:extLst>
          </p:cNvPr>
          <p:cNvSpPr txBox="1"/>
          <p:nvPr/>
        </p:nvSpPr>
        <p:spPr>
          <a:xfrm>
            <a:off x="854321" y="1190460"/>
            <a:ext cx="9923584" cy="1069780"/>
          </a:xfrm>
          <a:prstGeom prst="rect">
            <a:avLst/>
          </a:prstGeom>
          <a:noFill/>
          <a:ln>
            <a:noFill/>
          </a:ln>
        </p:spPr>
        <p:txBody>
          <a:bodyPr wrap="square" lIns="0" tIns="0" rIns="0" bIns="0">
            <a:spAutoFit/>
          </a:bodyPr>
          <a:lstStyle/>
          <a:p>
            <a:pPr algn="r" rtl="1">
              <a:lnSpc>
                <a:spcPct val="150000"/>
              </a:lnSpc>
            </a:pPr>
            <a:r>
              <a:rPr lang="ar-EG" sz="1600" spc="0" dirty="0">
                <a:solidFill>
                  <a:schemeClr val="bg1"/>
                </a:solidFill>
                <a:latin typeface="Calibri" panose="020F0502020204030204" pitchFamily="34" charset="0"/>
                <a:ea typeface="Calibri" panose="020F0502020204030204" pitchFamily="34" charset="0"/>
                <a:cs typeface="Calibri" panose="020F0502020204030204" pitchFamily="34" charset="0"/>
              </a:rPr>
              <a:t>في ظل التحول العالمي المتسارع نحو الطاقة المتجددة تبرز منصة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Solarpulse Analytics</a:t>
            </a:r>
            <a:r>
              <a:rPr lang="ar-EG"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ar-EG" sz="1600" spc="0" dirty="0">
                <a:solidFill>
                  <a:schemeClr val="bg1"/>
                </a:solidFill>
                <a:latin typeface="Calibri" panose="020F0502020204030204" pitchFamily="34" charset="0"/>
                <a:ea typeface="Calibri" panose="020F0502020204030204" pitchFamily="34" charset="0"/>
                <a:cs typeface="Calibri" panose="020F0502020204030204" pitchFamily="34" charset="0"/>
              </a:rPr>
              <a:t>كحل تقني رائد يغير قواعد اللعبة في إدارة أصول الطاقة الشمسية. نحن لا نقدم مجرد أدوات للمراقبة، بل نصمم بيئة استثمارية رقمية متكاملة تتيح لمديري وملاك المحطات الانتقال من الإدارة التقليدية القائمة على رد الفعل إلى الإدارة الاستراتيجية الاستباقية القائمة على بيانات دقيقة.</a:t>
            </a:r>
          </a:p>
        </p:txBody>
      </p:sp>
      <p:cxnSp>
        <p:nvCxnSpPr>
          <p:cNvPr id="54" name="Connector 50">
            <a:extLst>
              <a:ext uri="{FF2B5EF4-FFF2-40B4-BE49-F238E27FC236}">
                <a16:creationId xmlns:a16="http://schemas.microsoft.com/office/drawing/2014/main" id="{396582BD-F1AC-3D3F-E618-82806418BAF7}"/>
              </a:ext>
            </a:extLst>
          </p:cNvPr>
          <p:cNvCxnSpPr>
            <a:cxnSpLocks/>
          </p:cNvCxnSpPr>
          <p:nvPr/>
        </p:nvCxnSpPr>
        <p:spPr>
          <a:xfrm>
            <a:off x="9200415" y="804532"/>
            <a:ext cx="2103120" cy="0"/>
          </a:xfrm>
          <a:prstGeom prst="line">
            <a:avLst/>
          </a:prstGeom>
          <a:ln w="12700">
            <a:solidFill>
              <a:srgbClr val="FFFFFF">
                <a:alpha val="7999"/>
              </a:srgbClr>
            </a:solidFill>
          </a:ln>
        </p:spPr>
        <p:style>
          <a:lnRef idx="2">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p:nvPr/>
        </p:nvSpPr>
        <p:spPr>
          <a:xfrm>
            <a:off x="0" y="0"/>
            <a:ext cx="11658600" cy="66947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ectangle 4"/>
          <p:cNvSpPr/>
          <p:nvPr/>
        </p:nvSpPr>
        <p:spPr>
          <a:xfrm>
            <a:off x="381000" y="457200"/>
            <a:ext cx="10896600"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6" name="Rectangle 5"/>
          <p:cNvSpPr/>
          <p:nvPr/>
        </p:nvSpPr>
        <p:spPr>
          <a:xfrm>
            <a:off x="381000" y="457200"/>
            <a:ext cx="3319313"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20" name="Rectangle 19"/>
          <p:cNvSpPr/>
          <p:nvPr/>
        </p:nvSpPr>
        <p:spPr>
          <a:xfrm>
            <a:off x="272561" y="5115121"/>
            <a:ext cx="11113477" cy="913972"/>
          </a:xfrm>
          <a:prstGeom prst="rect">
            <a:avLst/>
          </a:prstGeom>
          <a:solidFill>
            <a:schemeClr val="tx1">
              <a:lumMod val="95000"/>
              <a:lumOff val="5000"/>
            </a:schemeClr>
          </a:solid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rtl="1"/>
            <a:r>
              <a:rPr lang="ar-EG" dirty="0">
                <a:latin typeface="Calibri" panose="020F0502020204030204" pitchFamily="34" charset="0"/>
                <a:ea typeface="Calibri" panose="020F0502020204030204" pitchFamily="34" charset="0"/>
                <a:cs typeface="Calibri" panose="020F0502020204030204" pitchFamily="34" charset="0"/>
              </a:rPr>
              <a:t>إن </a:t>
            </a:r>
            <a:r>
              <a:rPr lang="en-US" dirty="0">
                <a:latin typeface="Calibri" panose="020F0502020204030204" pitchFamily="34" charset="0"/>
                <a:ea typeface="Calibri" panose="020F0502020204030204" pitchFamily="34" charset="0"/>
                <a:cs typeface="Calibri" panose="020F0502020204030204" pitchFamily="34" charset="0"/>
              </a:rPr>
              <a:t> Solar Pulse Analytics</a:t>
            </a:r>
            <a:r>
              <a:rPr lang="ar-EG" dirty="0">
                <a:latin typeface="Calibri" panose="020F0502020204030204" pitchFamily="34" charset="0"/>
                <a:ea typeface="Calibri" panose="020F0502020204030204" pitchFamily="34" charset="0"/>
                <a:cs typeface="Calibri" panose="020F0502020204030204" pitchFamily="34" charset="0"/>
              </a:rPr>
              <a:t>هو شريكك الاستراتيجي لضمان استمرارية تدفق الأرباح تقليل المخاطر التشغيلية. والريادة في قطاع الطاقة النظيفة بأدوات رقمية تواكب رؤى المستقبل.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1" name="Rounded Rectangle 20"/>
          <p:cNvSpPr/>
          <p:nvPr/>
        </p:nvSpPr>
        <p:spPr>
          <a:xfrm>
            <a:off x="7350370" y="632319"/>
            <a:ext cx="3726572"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تعظيم العوائد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العائد على الاستثمار (</a:t>
            </a:r>
            <a:r>
              <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(ROI</a:t>
            </a:r>
          </a:p>
        </p:txBody>
      </p:sp>
      <p:sp>
        <p:nvSpPr>
          <p:cNvPr id="23" name="TextBox 22"/>
          <p:cNvSpPr txBox="1"/>
          <p:nvPr/>
        </p:nvSpPr>
        <p:spPr>
          <a:xfrm>
            <a:off x="5486400" y="1244908"/>
            <a:ext cx="5791200"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عبر تقليل الهدر الطاقي وضمان عمل العواكس </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 (Inverters)</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بأقصى كفاءة ممكنة.</a:t>
            </a:r>
          </a:p>
        </p:txBody>
      </p:sp>
      <p:sp>
        <p:nvSpPr>
          <p:cNvPr id="25" name="Rectangle 24"/>
          <p:cNvSpPr/>
          <p:nvPr/>
        </p:nvSpPr>
        <p:spPr>
          <a:xfrm>
            <a:off x="7660332" y="1123503"/>
            <a:ext cx="3312467" cy="6381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9" name="Rounded Rectangle 20">
            <a:extLst>
              <a:ext uri="{FF2B5EF4-FFF2-40B4-BE49-F238E27FC236}">
                <a16:creationId xmlns:a16="http://schemas.microsoft.com/office/drawing/2014/main" id="{B8D296C4-25C5-0156-4966-B75742969888}"/>
              </a:ext>
            </a:extLst>
          </p:cNvPr>
          <p:cNvSpPr/>
          <p:nvPr/>
        </p:nvSpPr>
        <p:spPr>
          <a:xfrm>
            <a:off x="7226678" y="1779247"/>
            <a:ext cx="3850264" cy="312611"/>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خفض التكاليف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التشغيل والصيانة (</a:t>
            </a:r>
            <a:r>
              <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(O&amp;M</a:t>
            </a:r>
          </a:p>
        </p:txBody>
      </p:sp>
      <p:sp>
        <p:nvSpPr>
          <p:cNvPr id="11" name="TextBox 10">
            <a:extLst>
              <a:ext uri="{FF2B5EF4-FFF2-40B4-BE49-F238E27FC236}">
                <a16:creationId xmlns:a16="http://schemas.microsoft.com/office/drawing/2014/main" id="{FE00EDEA-EED1-907D-0A02-D4A3989630E2}"/>
              </a:ext>
            </a:extLst>
          </p:cNvPr>
          <p:cNvSpPr txBox="1"/>
          <p:nvPr/>
        </p:nvSpPr>
        <p:spPr>
          <a:xfrm>
            <a:off x="4844562" y="2429391"/>
            <a:ext cx="6433038"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من خلال توجيه فرق الصيانة لمواقع الأعطال بدقة، مما ينهي عهد الصيانة الدورية العشوائية.</a:t>
            </a:r>
          </a:p>
        </p:txBody>
      </p:sp>
      <p:sp>
        <p:nvSpPr>
          <p:cNvPr id="18" name="Rounded Rectangle 20">
            <a:extLst>
              <a:ext uri="{FF2B5EF4-FFF2-40B4-BE49-F238E27FC236}">
                <a16:creationId xmlns:a16="http://schemas.microsoft.com/office/drawing/2014/main" id="{F0D01F16-6871-012A-1294-E816ADF46C03}"/>
              </a:ext>
            </a:extLst>
          </p:cNvPr>
          <p:cNvSpPr/>
          <p:nvPr/>
        </p:nvSpPr>
        <p:spPr>
          <a:xfrm>
            <a:off x="7227277" y="2957959"/>
            <a:ext cx="3850264"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الاستدامة والامتثال</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 الحوكمة البيئية</a:t>
            </a:r>
            <a:r>
              <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(ESG) </a:t>
            </a:r>
          </a:p>
        </p:txBody>
      </p:sp>
      <p:sp>
        <p:nvSpPr>
          <p:cNvPr id="24" name="TextBox 23">
            <a:extLst>
              <a:ext uri="{FF2B5EF4-FFF2-40B4-BE49-F238E27FC236}">
                <a16:creationId xmlns:a16="http://schemas.microsoft.com/office/drawing/2014/main" id="{64E5D2FB-3297-21C8-0988-380A7343DB8B}"/>
              </a:ext>
            </a:extLst>
          </p:cNvPr>
          <p:cNvSpPr txBox="1"/>
          <p:nvPr/>
        </p:nvSpPr>
        <p:spPr>
          <a:xfrm>
            <a:off x="381000" y="3466712"/>
            <a:ext cx="10896600" cy="1439112"/>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الجاهزية للاعتمادات الدولية يوفر نظام </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Solarpulse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تقارير دقيقة وموثقة حول الأداء البيئي وانبعاثات الكربون التي تم تجنبها وهي التقارير التي تعد حجر الأساس لأي جهة ترغب في الحصول على شهادات الكربون الدولية ومعايير الحوكمة البيئية والاجتماعية (</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ESG).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القيمة المضافة للاستثمار: من خلال تزويدك ببيانات تقنية شفافة عن الأثر البيئي نرفع من جاذبية المحطة أمام صناديق التمويل الأخضر (</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Green Finance)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والجهات التي تضع معايير الاستدامة كشرط أساسي لتقييم</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460D04-B76A-6753-2AD7-B161351BE91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42E2D6-AA1B-67A1-3F95-6D069007AF13}"/>
              </a:ext>
            </a:extLst>
          </p:cNvPr>
          <p:cNvSpPr/>
          <p:nvPr/>
        </p:nvSpPr>
        <p:spPr>
          <a:xfrm>
            <a:off x="0" y="0"/>
            <a:ext cx="11658600" cy="66947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ectangle 4">
            <a:extLst>
              <a:ext uri="{FF2B5EF4-FFF2-40B4-BE49-F238E27FC236}">
                <a16:creationId xmlns:a16="http://schemas.microsoft.com/office/drawing/2014/main" id="{5A8699D6-CC87-4587-434F-844EC095687E}"/>
              </a:ext>
            </a:extLst>
          </p:cNvPr>
          <p:cNvSpPr/>
          <p:nvPr/>
        </p:nvSpPr>
        <p:spPr>
          <a:xfrm>
            <a:off x="381000" y="457200"/>
            <a:ext cx="10896600"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6" name="Rectangle 5">
            <a:extLst>
              <a:ext uri="{FF2B5EF4-FFF2-40B4-BE49-F238E27FC236}">
                <a16:creationId xmlns:a16="http://schemas.microsoft.com/office/drawing/2014/main" id="{FA448D2C-9694-E3CE-CDA3-F70FF72817A8}"/>
              </a:ext>
            </a:extLst>
          </p:cNvPr>
          <p:cNvSpPr/>
          <p:nvPr/>
        </p:nvSpPr>
        <p:spPr>
          <a:xfrm>
            <a:off x="381000" y="457200"/>
            <a:ext cx="3319313"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21" name="Rounded Rectangle 20">
            <a:extLst>
              <a:ext uri="{FF2B5EF4-FFF2-40B4-BE49-F238E27FC236}">
                <a16:creationId xmlns:a16="http://schemas.microsoft.com/office/drawing/2014/main" id="{21332295-13F4-EFF2-2C50-054746D725B6}"/>
              </a:ext>
            </a:extLst>
          </p:cNvPr>
          <p:cNvSpPr/>
          <p:nvPr/>
        </p:nvSpPr>
        <p:spPr>
          <a:xfrm>
            <a:off x="8220808" y="1805829"/>
            <a:ext cx="2856134"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فجوات التزويد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التذبذب الإنتاجي</a:t>
            </a:r>
          </a:p>
        </p:txBody>
      </p:sp>
      <p:sp>
        <p:nvSpPr>
          <p:cNvPr id="23" name="TextBox 22">
            <a:extLst>
              <a:ext uri="{FF2B5EF4-FFF2-40B4-BE49-F238E27FC236}">
                <a16:creationId xmlns:a16="http://schemas.microsoft.com/office/drawing/2014/main" id="{DCD5E77E-7EE3-E2B8-0061-5CC8C5149D0C}"/>
              </a:ext>
            </a:extLst>
          </p:cNvPr>
          <p:cNvSpPr txBox="1"/>
          <p:nvPr/>
        </p:nvSpPr>
        <p:spPr>
          <a:xfrm>
            <a:off x="4563208" y="2418418"/>
            <a:ext cx="6714392"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تقلبات الطقس تخلق فجوات في التزويد، مما يمنع المحطة من العمل بكامل طاقتها الاستيعابية</a:t>
            </a:r>
          </a:p>
        </p:txBody>
      </p:sp>
      <p:sp>
        <p:nvSpPr>
          <p:cNvPr id="25" name="Rectangle 24">
            <a:extLst>
              <a:ext uri="{FF2B5EF4-FFF2-40B4-BE49-F238E27FC236}">
                <a16:creationId xmlns:a16="http://schemas.microsoft.com/office/drawing/2014/main" id="{4A4A4A16-BC23-910B-1E8B-14DF1B547501}"/>
              </a:ext>
            </a:extLst>
          </p:cNvPr>
          <p:cNvSpPr/>
          <p:nvPr/>
        </p:nvSpPr>
        <p:spPr>
          <a:xfrm>
            <a:off x="7660332" y="2297013"/>
            <a:ext cx="3312467" cy="6381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9" name="Rounded Rectangle 20">
            <a:extLst>
              <a:ext uri="{FF2B5EF4-FFF2-40B4-BE49-F238E27FC236}">
                <a16:creationId xmlns:a16="http://schemas.microsoft.com/office/drawing/2014/main" id="{13AFF5C8-88D3-8592-8608-5D77E5C1593F}"/>
              </a:ext>
            </a:extLst>
          </p:cNvPr>
          <p:cNvSpPr/>
          <p:nvPr/>
        </p:nvSpPr>
        <p:spPr>
          <a:xfrm>
            <a:off x="8220808" y="2968165"/>
            <a:ext cx="2856134" cy="2972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ct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خسائر تراكمية</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 الأعطال الصامتة</a:t>
            </a:r>
            <a:endPar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B17B5880-30D5-5F54-1A54-F177E1D9A3FA}"/>
              </a:ext>
            </a:extLst>
          </p:cNvPr>
          <p:cNvSpPr txBox="1"/>
          <p:nvPr/>
        </p:nvSpPr>
        <p:spPr>
          <a:xfrm>
            <a:off x="2496418" y="3532122"/>
            <a:ext cx="8780584" cy="700448"/>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تدهور كفاءة الألواح والعواكس بسبب الحرارة أو التلوث يتم بشكل تدريجي غير مرئي، مما يؤدي إلى خسائر مالية تراكمية قبل أن تظهر الأعطال الكبرى.</a:t>
            </a:r>
          </a:p>
        </p:txBody>
      </p:sp>
      <p:sp>
        <p:nvSpPr>
          <p:cNvPr id="18" name="Rounded Rectangle 20">
            <a:extLst>
              <a:ext uri="{FF2B5EF4-FFF2-40B4-BE49-F238E27FC236}">
                <a16:creationId xmlns:a16="http://schemas.microsoft.com/office/drawing/2014/main" id="{34113E4D-49B2-B2D8-4508-2D0EC3189993}"/>
              </a:ext>
            </a:extLst>
          </p:cNvPr>
          <p:cNvSpPr/>
          <p:nvPr/>
        </p:nvSpPr>
        <p:spPr>
          <a:xfrm>
            <a:off x="8097117" y="4639117"/>
            <a:ext cx="2979825"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استنزاف الموارد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 عشوائية الصيانة</a:t>
            </a:r>
          </a:p>
        </p:txBody>
      </p:sp>
      <p:sp>
        <p:nvSpPr>
          <p:cNvPr id="24" name="TextBox 23">
            <a:extLst>
              <a:ext uri="{FF2B5EF4-FFF2-40B4-BE49-F238E27FC236}">
                <a16:creationId xmlns:a16="http://schemas.microsoft.com/office/drawing/2014/main" id="{1274A2B9-8C66-74F8-0537-9F8FE679EDA4}"/>
              </a:ext>
            </a:extLst>
          </p:cNvPr>
          <p:cNvSpPr txBox="1"/>
          <p:nvPr/>
        </p:nvSpPr>
        <p:spPr>
          <a:xfrm>
            <a:off x="2611316" y="5203509"/>
            <a:ext cx="8665686" cy="331116"/>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غياب البيانات الدقيقة يحول الصيانة إلى عملية استنزاف للموارد، بدلاً من أن تكون استثماراً مدروساً لإطالة عمر الأصول.</a:t>
            </a:r>
          </a:p>
        </p:txBody>
      </p:sp>
      <p:sp>
        <p:nvSpPr>
          <p:cNvPr id="2" name="Rounded Rectangle 4">
            <a:extLst>
              <a:ext uri="{FF2B5EF4-FFF2-40B4-BE49-F238E27FC236}">
                <a16:creationId xmlns:a16="http://schemas.microsoft.com/office/drawing/2014/main" id="{C5643171-742C-CCEC-FD0A-6C9E4525C50E}"/>
              </a:ext>
            </a:extLst>
          </p:cNvPr>
          <p:cNvSpPr/>
          <p:nvPr/>
        </p:nvSpPr>
        <p:spPr>
          <a:xfrm>
            <a:off x="485043" y="398644"/>
            <a:ext cx="10744200" cy="361950"/>
          </a:xfrm>
          <a:prstGeom prst="roundRect">
            <a:avLst>
              <a:gd name="adj" fmla="val 21052"/>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t"/>
          <a:lstStyle/>
          <a:p>
            <a:pPr algn="r" rtl="1">
              <a:lnSpc>
                <a:spcPts val="2700"/>
              </a:lnSpc>
            </a:pPr>
            <a:r>
              <a:rPr lang="ar-EG" sz="2400" b="1" spc="-96" dirty="0">
                <a:solidFill>
                  <a:srgbClr val="FFB703"/>
                </a:solidFill>
                <a:latin typeface="Calibri" panose="020F0502020204030204" pitchFamily="34" charset="0"/>
                <a:ea typeface="Calibri" panose="020F0502020204030204" pitchFamily="34" charset="0"/>
                <a:cs typeface="Calibri" panose="020F0502020204030204" pitchFamily="34" charset="0"/>
              </a:rPr>
              <a:t>2. التحديات التشغيلية والاستثمارية</a:t>
            </a:r>
          </a:p>
        </p:txBody>
      </p:sp>
      <p:cxnSp>
        <p:nvCxnSpPr>
          <p:cNvPr id="3" name="Connector 50">
            <a:extLst>
              <a:ext uri="{FF2B5EF4-FFF2-40B4-BE49-F238E27FC236}">
                <a16:creationId xmlns:a16="http://schemas.microsoft.com/office/drawing/2014/main" id="{88F6A24B-AB50-A816-52F0-323D91BC7AC8}"/>
              </a:ext>
            </a:extLst>
          </p:cNvPr>
          <p:cNvCxnSpPr>
            <a:cxnSpLocks/>
          </p:cNvCxnSpPr>
          <p:nvPr/>
        </p:nvCxnSpPr>
        <p:spPr>
          <a:xfrm>
            <a:off x="7837607" y="866078"/>
            <a:ext cx="3536708" cy="0"/>
          </a:xfrm>
          <a:prstGeom prst="line">
            <a:avLst/>
          </a:prstGeom>
          <a:ln w="12700">
            <a:solidFill>
              <a:srgbClr val="FFFFFF">
                <a:alpha val="7999"/>
              </a:srgbClr>
            </a:solidFill>
          </a:ln>
        </p:spPr>
        <p:style>
          <a:lnRef idx="2">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CFB242A-6D58-15DB-4DC7-1391BFAC81B8}"/>
              </a:ext>
            </a:extLst>
          </p:cNvPr>
          <p:cNvSpPr txBox="1"/>
          <p:nvPr/>
        </p:nvSpPr>
        <p:spPr>
          <a:xfrm>
            <a:off x="968377" y="1323225"/>
            <a:ext cx="9334500"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يواجه المستثمرون في محطات الطاقة الشمسية اليوم واقعاً تشغيلياً مليئاً بالتحديات التي تؤثر مباشرة على صافي الأرباح :</a:t>
            </a:r>
          </a:p>
        </p:txBody>
      </p:sp>
    </p:spTree>
    <p:extLst>
      <p:ext uri="{BB962C8B-B14F-4D97-AF65-F5344CB8AC3E}">
        <p14:creationId xmlns:p14="http://schemas.microsoft.com/office/powerpoint/2010/main" val="22272213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91425B-0704-F4D3-B72D-4C36906B8B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F43786A-854F-B91E-ADE1-F1F8BA143EF6}"/>
              </a:ext>
            </a:extLst>
          </p:cNvPr>
          <p:cNvSpPr/>
          <p:nvPr/>
        </p:nvSpPr>
        <p:spPr>
          <a:xfrm>
            <a:off x="0" y="0"/>
            <a:ext cx="11658600" cy="66947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ectangle 4">
            <a:extLst>
              <a:ext uri="{FF2B5EF4-FFF2-40B4-BE49-F238E27FC236}">
                <a16:creationId xmlns:a16="http://schemas.microsoft.com/office/drawing/2014/main" id="{62C1ED92-F127-F63D-61B8-F23E6C845DB8}"/>
              </a:ext>
            </a:extLst>
          </p:cNvPr>
          <p:cNvSpPr/>
          <p:nvPr/>
        </p:nvSpPr>
        <p:spPr>
          <a:xfrm>
            <a:off x="381000" y="457200"/>
            <a:ext cx="10896600"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6" name="Rectangle 5">
            <a:extLst>
              <a:ext uri="{FF2B5EF4-FFF2-40B4-BE49-F238E27FC236}">
                <a16:creationId xmlns:a16="http://schemas.microsoft.com/office/drawing/2014/main" id="{B7B3E421-8676-DB6F-6533-E04F40661662}"/>
              </a:ext>
            </a:extLst>
          </p:cNvPr>
          <p:cNvSpPr/>
          <p:nvPr/>
        </p:nvSpPr>
        <p:spPr>
          <a:xfrm>
            <a:off x="381000" y="457200"/>
            <a:ext cx="3319313"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21" name="Rounded Rectangle 20">
            <a:extLst>
              <a:ext uri="{FF2B5EF4-FFF2-40B4-BE49-F238E27FC236}">
                <a16:creationId xmlns:a16="http://schemas.microsoft.com/office/drawing/2014/main" id="{0225F1E0-167F-E8BD-4962-C804F4D6F07E}"/>
              </a:ext>
            </a:extLst>
          </p:cNvPr>
          <p:cNvSpPr/>
          <p:nvPr/>
        </p:nvSpPr>
        <p:spPr>
          <a:xfrm>
            <a:off x="8223408" y="1939649"/>
            <a:ext cx="2856134"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 الرؤية المسبقة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دقة التنبؤ المالي</a:t>
            </a:r>
          </a:p>
        </p:txBody>
      </p:sp>
      <p:sp>
        <p:nvSpPr>
          <p:cNvPr id="23" name="TextBox 22">
            <a:extLst>
              <a:ext uri="{FF2B5EF4-FFF2-40B4-BE49-F238E27FC236}">
                <a16:creationId xmlns:a16="http://schemas.microsoft.com/office/drawing/2014/main" id="{4F15CADD-0080-3C87-75A4-0A31C34CA31E}"/>
              </a:ext>
            </a:extLst>
          </p:cNvPr>
          <p:cNvSpPr txBox="1"/>
          <p:nvPr/>
        </p:nvSpPr>
        <p:spPr>
          <a:xfrm>
            <a:off x="4517451" y="2552238"/>
            <a:ext cx="6714392"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نمنح المستثمر رؤية مسبقة للأداء المتوقع، مما يساعد في وضع خطط استثمارية دقيقة وواقعية.</a:t>
            </a:r>
          </a:p>
        </p:txBody>
      </p:sp>
      <p:sp>
        <p:nvSpPr>
          <p:cNvPr id="25" name="Rectangle 24">
            <a:extLst>
              <a:ext uri="{FF2B5EF4-FFF2-40B4-BE49-F238E27FC236}">
                <a16:creationId xmlns:a16="http://schemas.microsoft.com/office/drawing/2014/main" id="{44F71E72-F8C7-F3E5-668F-1D8018B38E6F}"/>
              </a:ext>
            </a:extLst>
          </p:cNvPr>
          <p:cNvSpPr/>
          <p:nvPr/>
        </p:nvSpPr>
        <p:spPr>
          <a:xfrm>
            <a:off x="7662932" y="2430833"/>
            <a:ext cx="3312467" cy="6381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9" name="Rounded Rectangle 20">
            <a:extLst>
              <a:ext uri="{FF2B5EF4-FFF2-40B4-BE49-F238E27FC236}">
                <a16:creationId xmlns:a16="http://schemas.microsoft.com/office/drawing/2014/main" id="{9732E00B-567F-1432-70A9-1CBA78C13C2C}"/>
              </a:ext>
            </a:extLst>
          </p:cNvPr>
          <p:cNvSpPr/>
          <p:nvPr/>
        </p:nvSpPr>
        <p:spPr>
          <a:xfrm>
            <a:off x="7441491" y="3101985"/>
            <a:ext cx="3638051" cy="2972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l">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حماية الأصول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الصيانة التنبؤية الاستباقية</a:t>
            </a:r>
            <a:endPar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0E02FD0-664F-01DB-44B5-1986F6F829FD}"/>
              </a:ext>
            </a:extLst>
          </p:cNvPr>
          <p:cNvSpPr txBox="1"/>
          <p:nvPr/>
        </p:nvSpPr>
        <p:spPr>
          <a:xfrm>
            <a:off x="2499018" y="3665942"/>
            <a:ext cx="8780584" cy="331116"/>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اكتشاف الأعطال قبل تفاقمها يحمي أصولك من التدهور ويضمن أقصى معدل توافر للمحطة (</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Uptime</a:t>
            </a:r>
            <a:r>
              <a:rPr lang="ar-EG" sz="1600" b="1" dirty="0">
                <a:solidFill>
                  <a:srgbClr val="FFFFFF"/>
                </a:solidFill>
                <a:latin typeface="Calibri" panose="020F0502020204030204" pitchFamily="34" charset="0"/>
                <a:ea typeface="Calibri" panose="020F0502020204030204" pitchFamily="34" charset="0"/>
                <a:cs typeface="Calibri" panose="020F0502020204030204" pitchFamily="34" charset="0"/>
              </a:rPr>
              <a:t>)</a:t>
            </a:r>
            <a:endPar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ounded Rectangle 20">
            <a:extLst>
              <a:ext uri="{FF2B5EF4-FFF2-40B4-BE49-F238E27FC236}">
                <a16:creationId xmlns:a16="http://schemas.microsoft.com/office/drawing/2014/main" id="{72397F75-0F13-DA35-F11B-1259BF1BFE76}"/>
              </a:ext>
            </a:extLst>
          </p:cNvPr>
          <p:cNvSpPr/>
          <p:nvPr/>
        </p:nvSpPr>
        <p:spPr>
          <a:xfrm>
            <a:off x="8025213" y="4354284"/>
            <a:ext cx="3110513"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الشفافية الإدارية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التحكم والشفافية</a:t>
            </a:r>
          </a:p>
        </p:txBody>
      </p:sp>
      <p:sp>
        <p:nvSpPr>
          <p:cNvPr id="24" name="TextBox 23">
            <a:extLst>
              <a:ext uri="{FF2B5EF4-FFF2-40B4-BE49-F238E27FC236}">
                <a16:creationId xmlns:a16="http://schemas.microsoft.com/office/drawing/2014/main" id="{9D420C93-2185-F57C-E3B0-F4DE88C30A65}"/>
              </a:ext>
            </a:extLst>
          </p:cNvPr>
          <p:cNvSpPr txBox="1"/>
          <p:nvPr/>
        </p:nvSpPr>
        <p:spPr>
          <a:xfrm>
            <a:off x="2670100" y="4918676"/>
            <a:ext cx="8665686" cy="331116"/>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غياب البيانات الدقيقة يحول الصيانة إلى عملية استنزاف للموارد، بدلاً من أن تكون استثماراً مدروساً لإطالة عمر الأصول.</a:t>
            </a:r>
          </a:p>
        </p:txBody>
      </p:sp>
      <p:sp>
        <p:nvSpPr>
          <p:cNvPr id="2" name="Rounded Rectangle 4">
            <a:extLst>
              <a:ext uri="{FF2B5EF4-FFF2-40B4-BE49-F238E27FC236}">
                <a16:creationId xmlns:a16="http://schemas.microsoft.com/office/drawing/2014/main" id="{45377E38-2DA3-941D-AB08-CE7FC99167A3}"/>
              </a:ext>
            </a:extLst>
          </p:cNvPr>
          <p:cNvSpPr/>
          <p:nvPr/>
        </p:nvSpPr>
        <p:spPr>
          <a:xfrm>
            <a:off x="485043" y="398644"/>
            <a:ext cx="10744200" cy="361950"/>
          </a:xfrm>
          <a:prstGeom prst="roundRect">
            <a:avLst>
              <a:gd name="adj" fmla="val 21052"/>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t"/>
          <a:lstStyle/>
          <a:p>
            <a:pPr algn="r" rtl="1">
              <a:lnSpc>
                <a:spcPts val="2700"/>
              </a:lnSpc>
            </a:pPr>
            <a:r>
              <a:rPr lang="ar-EG" sz="2400" b="1" spc="-96" dirty="0">
                <a:solidFill>
                  <a:srgbClr val="FFB703"/>
                </a:solidFill>
                <a:latin typeface="Calibri" panose="020F0502020204030204" pitchFamily="34" charset="0"/>
                <a:ea typeface="Calibri" panose="020F0502020204030204" pitchFamily="34" charset="0"/>
                <a:cs typeface="Calibri" panose="020F0502020204030204" pitchFamily="34" charset="0"/>
              </a:rPr>
              <a:t>3. الحل الاستثماري المتكامل</a:t>
            </a:r>
          </a:p>
        </p:txBody>
      </p:sp>
      <p:cxnSp>
        <p:nvCxnSpPr>
          <p:cNvPr id="3" name="Connector 50">
            <a:extLst>
              <a:ext uri="{FF2B5EF4-FFF2-40B4-BE49-F238E27FC236}">
                <a16:creationId xmlns:a16="http://schemas.microsoft.com/office/drawing/2014/main" id="{4244B899-E342-95F5-B2C9-6CFC20522DAF}"/>
              </a:ext>
            </a:extLst>
          </p:cNvPr>
          <p:cNvCxnSpPr>
            <a:cxnSpLocks/>
          </p:cNvCxnSpPr>
          <p:nvPr/>
        </p:nvCxnSpPr>
        <p:spPr>
          <a:xfrm>
            <a:off x="7837607" y="866078"/>
            <a:ext cx="3536708" cy="0"/>
          </a:xfrm>
          <a:prstGeom prst="line">
            <a:avLst/>
          </a:prstGeom>
          <a:ln w="12700">
            <a:solidFill>
              <a:srgbClr val="FFFFFF">
                <a:alpha val="7999"/>
              </a:srgbClr>
            </a:solidFill>
          </a:ln>
        </p:spPr>
        <p:style>
          <a:lnRef idx="2">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3BA934-4225-8B88-50A9-93380419A268}"/>
              </a:ext>
            </a:extLst>
          </p:cNvPr>
          <p:cNvSpPr txBox="1"/>
          <p:nvPr/>
        </p:nvSpPr>
        <p:spPr>
          <a:xfrm>
            <a:off x="970977" y="1457045"/>
            <a:ext cx="9334500"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نحن نقدم</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SolarPulse Analytics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 كمنظومة ذكية متكاملة تضمن لك تحويل التحديات إلى فرص ربحية:</a:t>
            </a:r>
          </a:p>
        </p:txBody>
      </p:sp>
    </p:spTree>
    <p:extLst>
      <p:ext uri="{BB962C8B-B14F-4D97-AF65-F5344CB8AC3E}">
        <p14:creationId xmlns:p14="http://schemas.microsoft.com/office/powerpoint/2010/main" val="17034982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1C2DE8-5AC8-D60A-38BB-8B99F7935B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734E99-1A05-C10B-3D56-3E4C1623EE04}"/>
              </a:ext>
            </a:extLst>
          </p:cNvPr>
          <p:cNvSpPr/>
          <p:nvPr/>
        </p:nvSpPr>
        <p:spPr>
          <a:xfrm>
            <a:off x="0" y="0"/>
            <a:ext cx="11658600" cy="66947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ectangle 4">
            <a:extLst>
              <a:ext uri="{FF2B5EF4-FFF2-40B4-BE49-F238E27FC236}">
                <a16:creationId xmlns:a16="http://schemas.microsoft.com/office/drawing/2014/main" id="{404BDE87-549C-1AB1-2F39-CE085331A580}"/>
              </a:ext>
            </a:extLst>
          </p:cNvPr>
          <p:cNvSpPr/>
          <p:nvPr/>
        </p:nvSpPr>
        <p:spPr>
          <a:xfrm>
            <a:off x="381000" y="457200"/>
            <a:ext cx="10896600"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6" name="Rectangle 5">
            <a:extLst>
              <a:ext uri="{FF2B5EF4-FFF2-40B4-BE49-F238E27FC236}">
                <a16:creationId xmlns:a16="http://schemas.microsoft.com/office/drawing/2014/main" id="{408AADBE-BBCB-1C3A-560D-B3A6DF19FCA6}"/>
              </a:ext>
            </a:extLst>
          </p:cNvPr>
          <p:cNvSpPr/>
          <p:nvPr/>
        </p:nvSpPr>
        <p:spPr>
          <a:xfrm>
            <a:off x="381000" y="457200"/>
            <a:ext cx="3319313"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21" name="Rounded Rectangle 20">
            <a:extLst>
              <a:ext uri="{FF2B5EF4-FFF2-40B4-BE49-F238E27FC236}">
                <a16:creationId xmlns:a16="http://schemas.microsoft.com/office/drawing/2014/main" id="{6C4348A9-CD2A-8ADF-2A4F-B421B8D34AF2}"/>
              </a:ext>
            </a:extLst>
          </p:cNvPr>
          <p:cNvSpPr/>
          <p:nvPr/>
        </p:nvSpPr>
        <p:spPr>
          <a:xfrm>
            <a:off x="8229600" y="2038843"/>
            <a:ext cx="2849942"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صافي الأرباح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تعظيم العائد المالي</a:t>
            </a:r>
            <a:endPar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8D3B8622-591C-9879-48EA-6E8F04046351}"/>
              </a:ext>
            </a:extLst>
          </p:cNvPr>
          <p:cNvSpPr txBox="1"/>
          <p:nvPr/>
        </p:nvSpPr>
        <p:spPr>
          <a:xfrm>
            <a:off x="3894992" y="2651432"/>
            <a:ext cx="7336851"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رفع كفاءة الإنتاج يعني خفض فترة استرداد رأس المال</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Payback Period) </a:t>
            </a:r>
            <a:r>
              <a:rPr lang="ar-EG" sz="1600" b="1" dirty="0">
                <a:solidFill>
                  <a:srgbClr val="FFFFFF"/>
                </a:solidFill>
                <a:latin typeface="Calibri" panose="020F0502020204030204" pitchFamily="34" charset="0"/>
                <a:ea typeface="Calibri" panose="020F0502020204030204" pitchFamily="34" charset="0"/>
                <a:cs typeface="Calibri" panose="020F0502020204030204" pitchFamily="34" charset="0"/>
              </a:rPr>
              <a:t>)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وزيادة صافي الأرباح السنوية.</a:t>
            </a:r>
          </a:p>
        </p:txBody>
      </p:sp>
      <p:sp>
        <p:nvSpPr>
          <p:cNvPr id="25" name="Rectangle 24">
            <a:extLst>
              <a:ext uri="{FF2B5EF4-FFF2-40B4-BE49-F238E27FC236}">
                <a16:creationId xmlns:a16="http://schemas.microsoft.com/office/drawing/2014/main" id="{23C73F6C-F54F-62D1-A8A4-07703FBA074F}"/>
              </a:ext>
            </a:extLst>
          </p:cNvPr>
          <p:cNvSpPr/>
          <p:nvPr/>
        </p:nvSpPr>
        <p:spPr>
          <a:xfrm>
            <a:off x="7662932" y="2530027"/>
            <a:ext cx="3312467" cy="6381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9" name="Rounded Rectangle 20">
            <a:extLst>
              <a:ext uri="{FF2B5EF4-FFF2-40B4-BE49-F238E27FC236}">
                <a16:creationId xmlns:a16="http://schemas.microsoft.com/office/drawing/2014/main" id="{B60B4336-BE26-9EB4-7115-900376AFE1AC}"/>
              </a:ext>
            </a:extLst>
          </p:cNvPr>
          <p:cNvSpPr/>
          <p:nvPr/>
        </p:nvSpPr>
        <p:spPr>
          <a:xfrm>
            <a:off x="7837606" y="3201179"/>
            <a:ext cx="3241935" cy="2972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أصل عالي القيمة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الامتياز البيئي </a:t>
            </a:r>
            <a:r>
              <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ESG)</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US" sz="1600" b="1" spc="9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4F4A27C0-FDD2-A2C8-A9F2-278764619753}"/>
              </a:ext>
            </a:extLst>
          </p:cNvPr>
          <p:cNvSpPr txBox="1"/>
          <p:nvPr/>
        </p:nvSpPr>
        <p:spPr>
          <a:xfrm>
            <a:off x="2499018" y="3765136"/>
            <a:ext cx="8780584" cy="331116"/>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توفير تقارير دقيقة وموثقة حول انبعاثات الكربون التي تم تجنبها، مما يفتح أبواباً للتمويل الأخضر وشهادات الكربون العالمية.</a:t>
            </a:r>
          </a:p>
        </p:txBody>
      </p:sp>
      <p:sp>
        <p:nvSpPr>
          <p:cNvPr id="18" name="Rounded Rectangle 20">
            <a:extLst>
              <a:ext uri="{FF2B5EF4-FFF2-40B4-BE49-F238E27FC236}">
                <a16:creationId xmlns:a16="http://schemas.microsoft.com/office/drawing/2014/main" id="{59E943CD-7447-3463-8205-C0E9B6C9EC68}"/>
              </a:ext>
            </a:extLst>
          </p:cNvPr>
          <p:cNvSpPr/>
          <p:nvPr/>
        </p:nvSpPr>
        <p:spPr>
          <a:xfrm>
            <a:off x="8106508" y="4453478"/>
            <a:ext cx="3029218"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ميداني موثق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حلول مصممة للواقع</a:t>
            </a:r>
          </a:p>
        </p:txBody>
      </p:sp>
      <p:sp>
        <p:nvSpPr>
          <p:cNvPr id="24" name="TextBox 23">
            <a:extLst>
              <a:ext uri="{FF2B5EF4-FFF2-40B4-BE49-F238E27FC236}">
                <a16:creationId xmlns:a16="http://schemas.microsoft.com/office/drawing/2014/main" id="{D06B470F-D619-C571-D070-9802CC90516D}"/>
              </a:ext>
            </a:extLst>
          </p:cNvPr>
          <p:cNvSpPr txBox="1"/>
          <p:nvPr/>
        </p:nvSpPr>
        <p:spPr>
          <a:xfrm>
            <a:off x="2670100" y="5017870"/>
            <a:ext cx="8665686" cy="331116"/>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نظامنا ليس نظرياً، بل بنيناه على اختبارات حقيقية وبيانات ميدانية دقيقة. نندمج مع البنية التحتية القائمة ليقدم نتائج فورية.</a:t>
            </a:r>
          </a:p>
        </p:txBody>
      </p:sp>
      <p:sp>
        <p:nvSpPr>
          <p:cNvPr id="2" name="Rounded Rectangle 4">
            <a:extLst>
              <a:ext uri="{FF2B5EF4-FFF2-40B4-BE49-F238E27FC236}">
                <a16:creationId xmlns:a16="http://schemas.microsoft.com/office/drawing/2014/main" id="{C053C76B-F54A-AC8A-0952-C3B1972426D7}"/>
              </a:ext>
            </a:extLst>
          </p:cNvPr>
          <p:cNvSpPr/>
          <p:nvPr/>
        </p:nvSpPr>
        <p:spPr>
          <a:xfrm>
            <a:off x="485043" y="398644"/>
            <a:ext cx="10744200" cy="361950"/>
          </a:xfrm>
          <a:prstGeom prst="roundRect">
            <a:avLst>
              <a:gd name="adj" fmla="val 21052"/>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t"/>
          <a:lstStyle/>
          <a:p>
            <a:pPr algn="r" rtl="1">
              <a:lnSpc>
                <a:spcPts val="2700"/>
              </a:lnSpc>
            </a:pPr>
            <a:r>
              <a:rPr lang="ar-EG" sz="2400" b="1" spc="-96" dirty="0">
                <a:solidFill>
                  <a:srgbClr val="FFB703"/>
                </a:solidFill>
                <a:latin typeface="Calibri" panose="020F0502020204030204" pitchFamily="34" charset="0"/>
                <a:ea typeface="Calibri" panose="020F0502020204030204" pitchFamily="34" charset="0"/>
                <a:cs typeface="Calibri" panose="020F0502020204030204" pitchFamily="34" charset="0"/>
              </a:rPr>
              <a:t>4. الأثر المالي &amp; التميز</a:t>
            </a:r>
          </a:p>
        </p:txBody>
      </p:sp>
      <p:cxnSp>
        <p:nvCxnSpPr>
          <p:cNvPr id="3" name="Connector 50">
            <a:extLst>
              <a:ext uri="{FF2B5EF4-FFF2-40B4-BE49-F238E27FC236}">
                <a16:creationId xmlns:a16="http://schemas.microsoft.com/office/drawing/2014/main" id="{80015220-5D23-4E73-C634-F3F811B712A5}"/>
              </a:ext>
            </a:extLst>
          </p:cNvPr>
          <p:cNvCxnSpPr>
            <a:cxnSpLocks/>
          </p:cNvCxnSpPr>
          <p:nvPr/>
        </p:nvCxnSpPr>
        <p:spPr>
          <a:xfrm>
            <a:off x="7837607" y="866078"/>
            <a:ext cx="3536708" cy="0"/>
          </a:xfrm>
          <a:prstGeom prst="line">
            <a:avLst/>
          </a:prstGeom>
          <a:ln w="12700">
            <a:solidFill>
              <a:srgbClr val="FFFFFF">
                <a:alpha val="7999"/>
              </a:srgbClr>
            </a:solidFill>
          </a:ln>
        </p:spPr>
        <p:style>
          <a:lnRef idx="2">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75404C1-59CE-C4B0-8300-F738C4B32BDF}"/>
              </a:ext>
            </a:extLst>
          </p:cNvPr>
          <p:cNvSpPr txBox="1"/>
          <p:nvPr/>
        </p:nvSpPr>
        <p:spPr>
          <a:xfrm>
            <a:off x="2136530" y="1596667"/>
            <a:ext cx="7817253" cy="198388"/>
          </a:xfrm>
          <a:prstGeom prst="rect">
            <a:avLst/>
          </a:prstGeom>
          <a:noFill/>
          <a:ln>
            <a:noFill/>
          </a:ln>
        </p:spPr>
        <p:txBody>
          <a:bodyPr wrap="square" lIns="0" tIns="0" rIns="0" bIns="0">
            <a:spAutoFit/>
          </a:bodyPr>
          <a:lstStyle/>
          <a:p>
            <a:pPr algn="r" rtl="1">
              <a:lnSpc>
                <a:spcPts val="15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في عالم اليوم الربحية والاستدامة وجهان لعملة واحدة مشروعنا يعزز مكانة محطتك في السوق كالتالي:</a:t>
            </a:r>
          </a:p>
        </p:txBody>
      </p:sp>
    </p:spTree>
    <p:extLst>
      <p:ext uri="{BB962C8B-B14F-4D97-AF65-F5344CB8AC3E}">
        <p14:creationId xmlns:p14="http://schemas.microsoft.com/office/powerpoint/2010/main" val="32816141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A1471BD-014B-D42A-A754-8233B514D07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E2185F-35E4-B073-626D-8D9C6FF55ECD}"/>
              </a:ext>
            </a:extLst>
          </p:cNvPr>
          <p:cNvSpPr/>
          <p:nvPr/>
        </p:nvSpPr>
        <p:spPr>
          <a:xfrm>
            <a:off x="0" y="0"/>
            <a:ext cx="11658600" cy="66947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5" name="Rectangle 4">
            <a:extLst>
              <a:ext uri="{FF2B5EF4-FFF2-40B4-BE49-F238E27FC236}">
                <a16:creationId xmlns:a16="http://schemas.microsoft.com/office/drawing/2014/main" id="{27FD528F-596A-AECE-CC37-F780154925A6}"/>
              </a:ext>
            </a:extLst>
          </p:cNvPr>
          <p:cNvSpPr/>
          <p:nvPr/>
        </p:nvSpPr>
        <p:spPr>
          <a:xfrm>
            <a:off x="381000" y="457200"/>
            <a:ext cx="10896600"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6" name="Rectangle 5">
            <a:extLst>
              <a:ext uri="{FF2B5EF4-FFF2-40B4-BE49-F238E27FC236}">
                <a16:creationId xmlns:a16="http://schemas.microsoft.com/office/drawing/2014/main" id="{390486E7-B715-C63E-523F-CE836EABD754}"/>
              </a:ext>
            </a:extLst>
          </p:cNvPr>
          <p:cNvSpPr/>
          <p:nvPr/>
        </p:nvSpPr>
        <p:spPr>
          <a:xfrm>
            <a:off x="381000" y="457200"/>
            <a:ext cx="3319313" cy="578033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21" name="Rounded Rectangle 20">
            <a:extLst>
              <a:ext uri="{FF2B5EF4-FFF2-40B4-BE49-F238E27FC236}">
                <a16:creationId xmlns:a16="http://schemas.microsoft.com/office/drawing/2014/main" id="{3631AD0D-4A8C-34F7-4DB4-A6E5BFDF5FB9}"/>
              </a:ext>
            </a:extLst>
          </p:cNvPr>
          <p:cNvSpPr/>
          <p:nvPr/>
        </p:nvSpPr>
        <p:spPr>
          <a:xfrm>
            <a:off x="8379301" y="1323279"/>
            <a:ext cx="2849942"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تكامل هندي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سجل الأداء الموثق</a:t>
            </a:r>
          </a:p>
        </p:txBody>
      </p:sp>
      <p:sp>
        <p:nvSpPr>
          <p:cNvPr id="23" name="TextBox 22">
            <a:extLst>
              <a:ext uri="{FF2B5EF4-FFF2-40B4-BE49-F238E27FC236}">
                <a16:creationId xmlns:a16="http://schemas.microsoft.com/office/drawing/2014/main" id="{5D212AF4-A0E7-6217-774F-29D631112E4C}"/>
              </a:ext>
            </a:extLst>
          </p:cNvPr>
          <p:cNvSpPr txBox="1"/>
          <p:nvPr/>
        </p:nvSpPr>
        <p:spPr>
          <a:xfrm>
            <a:off x="2555202" y="1935868"/>
            <a:ext cx="8732825" cy="700448"/>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نجحنا في تطوير وتدريب النموذج على بيانات حقيقية ومكثفة من محطة طاقة شمسية في الهند، حيث قمنا بتحليل 68,778 سجلاً تم تسجيلها بدقة (كل 15 دقيقة)، مما أثبت قدرة النظام العالية على التنبؤ ومطابقة الأداء الفعلي بالتوقعات.</a:t>
            </a:r>
          </a:p>
        </p:txBody>
      </p:sp>
      <p:sp>
        <p:nvSpPr>
          <p:cNvPr id="25" name="Rectangle 24">
            <a:extLst>
              <a:ext uri="{FF2B5EF4-FFF2-40B4-BE49-F238E27FC236}">
                <a16:creationId xmlns:a16="http://schemas.microsoft.com/office/drawing/2014/main" id="{DC7C035F-CEA9-B151-8C00-9D0E3242EB13}"/>
              </a:ext>
            </a:extLst>
          </p:cNvPr>
          <p:cNvSpPr/>
          <p:nvPr/>
        </p:nvSpPr>
        <p:spPr>
          <a:xfrm>
            <a:off x="7719116" y="1814463"/>
            <a:ext cx="3312467" cy="6381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9" name="Rounded Rectangle 20">
            <a:extLst>
              <a:ext uri="{FF2B5EF4-FFF2-40B4-BE49-F238E27FC236}">
                <a16:creationId xmlns:a16="http://schemas.microsoft.com/office/drawing/2014/main" id="{D61504FB-A4D8-8CFC-0965-82E457FD5803}"/>
              </a:ext>
            </a:extLst>
          </p:cNvPr>
          <p:cNvSpPr/>
          <p:nvPr/>
        </p:nvSpPr>
        <p:spPr>
          <a:xfrm>
            <a:off x="7874939" y="3030742"/>
            <a:ext cx="3354304" cy="2972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en-US"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 Battery Storage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التوسع الاستراتيج</a:t>
            </a: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ي</a:t>
            </a:r>
          </a:p>
        </p:txBody>
      </p:sp>
      <p:sp>
        <p:nvSpPr>
          <p:cNvPr id="11" name="TextBox 10">
            <a:extLst>
              <a:ext uri="{FF2B5EF4-FFF2-40B4-BE49-F238E27FC236}">
                <a16:creationId xmlns:a16="http://schemas.microsoft.com/office/drawing/2014/main" id="{52080A82-C334-823F-C225-E1966796F3F7}"/>
              </a:ext>
            </a:extLst>
          </p:cNvPr>
          <p:cNvSpPr txBox="1"/>
          <p:nvPr/>
        </p:nvSpPr>
        <p:spPr>
          <a:xfrm>
            <a:off x="2611388" y="3594699"/>
            <a:ext cx="8780584" cy="331116"/>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النظام جاهز الآن للدمج مع أنظمة التخزين </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Battery Storage)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لضمان موثوقية الطاقة على مدار الساعة.</a:t>
            </a:r>
          </a:p>
        </p:txBody>
      </p:sp>
      <p:sp>
        <p:nvSpPr>
          <p:cNvPr id="18" name="Rounded Rectangle 20">
            <a:extLst>
              <a:ext uri="{FF2B5EF4-FFF2-40B4-BE49-F238E27FC236}">
                <a16:creationId xmlns:a16="http://schemas.microsoft.com/office/drawing/2014/main" id="{4519E24E-49B7-67E7-B33C-40F4EBA84475}"/>
              </a:ext>
            </a:extLst>
          </p:cNvPr>
          <p:cNvSpPr/>
          <p:nvPr/>
        </p:nvSpPr>
        <p:spPr>
          <a:xfrm>
            <a:off x="8379301" y="4275224"/>
            <a:ext cx="2849942" cy="323403"/>
          </a:xfrm>
          <a:prstGeom prst="roundRect">
            <a:avLst>
              <a:gd name="adj" fmla="val 23561"/>
            </a:avLst>
          </a:prstGeom>
          <a:solidFill>
            <a:schemeClr val="tx1">
              <a:lumMod val="85000"/>
              <a:lumOff val="15000"/>
            </a:schemeClr>
          </a:solidFill>
          <a:ln w="9525">
            <a:solidFill>
              <a:srgbClr val="FFFFFF">
                <a:alpha val="7999"/>
              </a:srgbClr>
            </a:solidFill>
          </a:ln>
        </p:spPr>
        <p:style>
          <a:lnRef idx="1">
            <a:schemeClr val="accent1"/>
          </a:lnRef>
          <a:fillRef idx="3">
            <a:schemeClr val="accent1"/>
          </a:fillRef>
          <a:effectRef idx="0">
            <a:schemeClr val="accent1"/>
          </a:effectRef>
          <a:fontRef idx="minor">
            <a:schemeClr val="lt1"/>
          </a:fontRef>
        </p:style>
        <p:txBody>
          <a:bodyPr wrap="none" lIns="76200" tIns="76200" rIns="76200" bIns="76200" rtlCol="0" anchor="ctr"/>
          <a:lstStyle/>
          <a:p>
            <a:pPr algn="r" rtl="1">
              <a:lnSpc>
                <a:spcPts val="1197"/>
              </a:lnSpc>
            </a:pPr>
            <a:r>
              <a:rPr lang="ar-EG" sz="1600" b="1" spc="90" dirty="0">
                <a:solidFill>
                  <a:srgbClr val="FB8500"/>
                </a:solidFill>
                <a:latin typeface="Calibri" panose="020F0502020204030204" pitchFamily="34" charset="0"/>
                <a:ea typeface="Calibri" panose="020F0502020204030204" pitchFamily="34" charset="0"/>
                <a:cs typeface="Calibri" panose="020F0502020204030204" pitchFamily="34" charset="0"/>
              </a:rPr>
              <a:t>شراكات واعدة | </a:t>
            </a:r>
            <a:r>
              <a:rPr lang="ar-EG" sz="1600" b="1" spc="90" dirty="0">
                <a:solidFill>
                  <a:schemeClr val="bg1"/>
                </a:solidFill>
                <a:latin typeface="Calibri" panose="020F0502020204030204" pitchFamily="34" charset="0"/>
                <a:ea typeface="Calibri" panose="020F0502020204030204" pitchFamily="34" charset="0"/>
                <a:cs typeface="Calibri" panose="020F0502020204030204" pitchFamily="34" charset="0"/>
              </a:rPr>
              <a:t>الرؤية المستقبلية</a:t>
            </a:r>
          </a:p>
        </p:txBody>
      </p:sp>
      <p:sp>
        <p:nvSpPr>
          <p:cNvPr id="24" name="TextBox 23">
            <a:extLst>
              <a:ext uri="{FF2B5EF4-FFF2-40B4-BE49-F238E27FC236}">
                <a16:creationId xmlns:a16="http://schemas.microsoft.com/office/drawing/2014/main" id="{9EAD8C55-E990-5EFD-D260-476A111739C1}"/>
              </a:ext>
            </a:extLst>
          </p:cNvPr>
          <p:cNvSpPr txBox="1"/>
          <p:nvPr/>
        </p:nvSpPr>
        <p:spPr>
          <a:xfrm>
            <a:off x="2782470" y="4847433"/>
            <a:ext cx="8665686" cy="700448"/>
          </a:xfrm>
          <a:prstGeom prst="rect">
            <a:avLst/>
          </a:prstGeom>
          <a:noFill/>
          <a:ln>
            <a:noFill/>
          </a:ln>
        </p:spPr>
        <p:txBody>
          <a:bodyPr wrap="square" lIns="0" tIns="0" rIns="0" bIns="0">
            <a:spAutoFit/>
          </a:bodyPr>
          <a:lstStyle/>
          <a:p>
            <a:pPr algn="r" rtl="1">
              <a:lnSpc>
                <a:spcPct val="150000"/>
              </a:lnSpc>
            </a:pP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طموحنا هو جعل</a:t>
            </a:r>
            <a:r>
              <a:rPr lang="en-US"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Solarpulse </a:t>
            </a:r>
            <a:r>
              <a:rPr lang="ar-EG" sz="1600" b="1" spc="0" dirty="0">
                <a:solidFill>
                  <a:srgbClr val="FFFFFF"/>
                </a:solidFill>
                <a:latin typeface="Calibri" panose="020F0502020204030204" pitchFamily="34" charset="0"/>
                <a:ea typeface="Calibri" panose="020F0502020204030204" pitchFamily="34" charset="0"/>
                <a:cs typeface="Calibri" panose="020F0502020204030204" pitchFamily="34" charset="0"/>
              </a:rPr>
              <a:t> المعيار التشغيلي الأول في المنطقة لتحويل المحطات الشمسية إلى مراكز ربح خضراء مستدامة، من خلال شراكات استراتيجية مع كبار المطورين العقاريين وشركات الطاقة.</a:t>
            </a:r>
          </a:p>
        </p:txBody>
      </p:sp>
      <p:sp>
        <p:nvSpPr>
          <p:cNvPr id="2" name="Rounded Rectangle 4">
            <a:extLst>
              <a:ext uri="{FF2B5EF4-FFF2-40B4-BE49-F238E27FC236}">
                <a16:creationId xmlns:a16="http://schemas.microsoft.com/office/drawing/2014/main" id="{A800496C-C49B-0CE2-AD7C-3F9BF89D519D}"/>
              </a:ext>
            </a:extLst>
          </p:cNvPr>
          <p:cNvSpPr/>
          <p:nvPr/>
        </p:nvSpPr>
        <p:spPr>
          <a:xfrm>
            <a:off x="485043" y="398644"/>
            <a:ext cx="10744200" cy="361950"/>
          </a:xfrm>
          <a:prstGeom prst="roundRect">
            <a:avLst>
              <a:gd name="adj" fmla="val 21052"/>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t"/>
          <a:lstStyle/>
          <a:p>
            <a:pPr algn="r" rtl="1">
              <a:lnSpc>
                <a:spcPts val="2700"/>
              </a:lnSpc>
            </a:pPr>
            <a:r>
              <a:rPr lang="ar-EG" sz="2400" b="1" spc="-96" dirty="0">
                <a:solidFill>
                  <a:srgbClr val="FFB703"/>
                </a:solidFill>
                <a:latin typeface="Calibri" panose="020F0502020204030204" pitchFamily="34" charset="0"/>
                <a:ea typeface="Calibri" panose="020F0502020204030204" pitchFamily="34" charset="0"/>
                <a:cs typeface="Calibri" panose="020F0502020204030204" pitchFamily="34" charset="0"/>
              </a:rPr>
              <a:t>5. سجل الأداء والتوسع</a:t>
            </a:r>
          </a:p>
        </p:txBody>
      </p:sp>
      <p:cxnSp>
        <p:nvCxnSpPr>
          <p:cNvPr id="3" name="Connector 50">
            <a:extLst>
              <a:ext uri="{FF2B5EF4-FFF2-40B4-BE49-F238E27FC236}">
                <a16:creationId xmlns:a16="http://schemas.microsoft.com/office/drawing/2014/main" id="{5FB88758-5C29-B28D-ECFC-7E7C3A07B172}"/>
              </a:ext>
            </a:extLst>
          </p:cNvPr>
          <p:cNvCxnSpPr>
            <a:cxnSpLocks/>
          </p:cNvCxnSpPr>
          <p:nvPr/>
        </p:nvCxnSpPr>
        <p:spPr>
          <a:xfrm>
            <a:off x="7837607" y="866078"/>
            <a:ext cx="3536708" cy="0"/>
          </a:xfrm>
          <a:prstGeom prst="line">
            <a:avLst/>
          </a:prstGeom>
          <a:ln w="12700">
            <a:solidFill>
              <a:srgbClr val="FFFFFF">
                <a:alpha val="7999"/>
              </a:srgbClr>
            </a:solidFill>
          </a:ln>
        </p:spPr>
        <p:style>
          <a:lnRef idx="2">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94228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0" y="-1"/>
            <a:ext cx="11658600" cy="6562725"/>
          </a:xfrm>
          <a:prstGeom prst="rect">
            <a:avLst/>
          </a:prstGeom>
        </p:spPr>
      </p:pic>
      <p:sp>
        <p:nvSpPr>
          <p:cNvPr id="4" name="Rectangle 3"/>
          <p:cNvSpPr/>
          <p:nvPr/>
        </p:nvSpPr>
        <p:spPr>
          <a:xfrm>
            <a:off x="0" y="0"/>
            <a:ext cx="11658600" cy="656272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lIns="0" tIns="0" rIns="0" bIns="0" rtlCol="0" anchor="ctr"/>
          <a:lstStyle/>
          <a:p>
            <a:pPr algn="ctr"/>
            <a:endParaRPr/>
          </a:p>
        </p:txBody>
      </p:sp>
      <p:sp>
        <p:nvSpPr>
          <p:cNvPr id="7" name="Rounded Rectangle 6"/>
          <p:cNvSpPr/>
          <p:nvPr/>
        </p:nvSpPr>
        <p:spPr>
          <a:xfrm>
            <a:off x="2648718" y="2394326"/>
            <a:ext cx="6983610" cy="973245"/>
          </a:xfrm>
          <a:prstGeom prst="roundRect">
            <a:avLst>
              <a:gd name="adj" fmla="val 14814"/>
            </a:avLst>
          </a:prstGeom>
          <a:noFill/>
          <a:ln>
            <a:noFill/>
          </a:ln>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ts val="2025"/>
              </a:lnSpc>
            </a:pPr>
            <a:r>
              <a:rPr sz="2000" b="1" spc="0" dirty="0">
                <a:solidFill>
                  <a:srgbClr val="FFFFFF">
                    <a:alpha val="72156"/>
                  </a:srgbClr>
                </a:solidFill>
                <a:latin typeface="Switzer 300"/>
              </a:rPr>
              <a:t>This concludes the SolarPulse Analytics: Impact &amp; Conclusion project.
Let's power a sustainable future together.</a:t>
            </a:r>
          </a:p>
        </p:txBody>
      </p:sp>
      <p:sp>
        <p:nvSpPr>
          <p:cNvPr id="8" name="Rectangle 7">
            <a:extLst>
              <a:ext uri="{FF2B5EF4-FFF2-40B4-BE49-F238E27FC236}">
                <a16:creationId xmlns:a16="http://schemas.microsoft.com/office/drawing/2014/main" id="{89A545C1-C309-1D11-2495-4B470C552EEB}"/>
              </a:ext>
            </a:extLst>
          </p:cNvPr>
          <p:cNvSpPr/>
          <p:nvPr/>
        </p:nvSpPr>
        <p:spPr>
          <a:xfrm>
            <a:off x="3636512" y="4099088"/>
            <a:ext cx="1539846" cy="1539846"/>
          </a:xfrm>
          <a:prstGeom prst="rect">
            <a:avLst/>
          </a:prstGeom>
          <a:noFill/>
          <a:ln w="76200">
            <a:solidFill>
              <a:srgbClr val="E6E6E6">
                <a:alpha val="47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41"/>
          </a:p>
        </p:txBody>
      </p:sp>
      <p:sp>
        <p:nvSpPr>
          <p:cNvPr id="9" name="Rectangle 8">
            <a:extLst>
              <a:ext uri="{FF2B5EF4-FFF2-40B4-BE49-F238E27FC236}">
                <a16:creationId xmlns:a16="http://schemas.microsoft.com/office/drawing/2014/main" id="{4AF3C795-E8BA-9CAD-E967-E80DE2A733BA}"/>
              </a:ext>
            </a:extLst>
          </p:cNvPr>
          <p:cNvSpPr/>
          <p:nvPr/>
        </p:nvSpPr>
        <p:spPr>
          <a:xfrm>
            <a:off x="5337196" y="4366236"/>
            <a:ext cx="2783340" cy="1015663"/>
          </a:xfrm>
          <a:prstGeom prst="rect">
            <a:avLst/>
          </a:prstGeom>
        </p:spPr>
        <p:txBody>
          <a:bodyPr wrap="square">
            <a:spAutoFit/>
          </a:bodyPr>
          <a:lstStyle/>
          <a:p>
            <a:pPr algn="ctr"/>
            <a:r>
              <a:rPr lang="en-US" sz="3200" dirty="0">
                <a:solidFill>
                  <a:srgbClr val="FFB703"/>
                </a:solidFill>
                <a:latin typeface="Bebas Neue" panose="020B0606020202050201" pitchFamily="34" charset="0"/>
              </a:rPr>
              <a:t>Waleed Mohammed </a:t>
            </a:r>
            <a:endParaRPr lang="en-US" sz="2000" dirty="0">
              <a:solidFill>
                <a:srgbClr val="FFB703"/>
              </a:solidFill>
            </a:endParaRPr>
          </a:p>
          <a:p>
            <a:pPr algn="ctr"/>
            <a:r>
              <a:rPr lang="en-US" sz="1400" b="1" dirty="0">
                <a:solidFill>
                  <a:schemeClr val="bg1">
                    <a:lumMod val="75000"/>
                  </a:schemeClr>
                </a:solidFill>
                <a:latin typeface="Roboto" panose="02000000000000000000" pitchFamily="2" charset="0"/>
                <a:ea typeface="Roboto" panose="02000000000000000000" pitchFamily="2" charset="0"/>
              </a:rPr>
              <a:t>Senior Analytics Engineer | Senior Data Analysis Instructor</a:t>
            </a:r>
          </a:p>
        </p:txBody>
      </p:sp>
      <p:pic>
        <p:nvPicPr>
          <p:cNvPr id="25" name="Picture 24" descr="A person in a suit and tie&#10;&#10;AI-generated content may be incorrect.">
            <a:extLst>
              <a:ext uri="{FF2B5EF4-FFF2-40B4-BE49-F238E27FC236}">
                <a16:creationId xmlns:a16="http://schemas.microsoft.com/office/drawing/2014/main" id="{7A87F5FF-4893-E86F-6CD7-B91BD9EB37ED}"/>
              </a:ext>
            </a:extLst>
          </p:cNvPr>
          <p:cNvPicPr>
            <a:picLocks noChangeAspect="1"/>
          </p:cNvPicPr>
          <p:nvPr/>
        </p:nvPicPr>
        <p:blipFill>
          <a:blip r:embed="rId4"/>
          <a:stretch>
            <a:fillRect/>
          </a:stretch>
        </p:blipFill>
        <p:spPr>
          <a:xfrm>
            <a:off x="3662497" y="4132921"/>
            <a:ext cx="1482295" cy="1482295"/>
          </a:xfrm>
          <a:prstGeom prst="rect">
            <a:avLst/>
          </a:prstGeom>
        </p:spPr>
      </p:pic>
      <p:sp>
        <p:nvSpPr>
          <p:cNvPr id="6" name="Rounded Rectangle 5"/>
          <p:cNvSpPr/>
          <p:nvPr/>
        </p:nvSpPr>
        <p:spPr>
          <a:xfrm>
            <a:off x="1800225" y="1654805"/>
            <a:ext cx="8058150" cy="473417"/>
          </a:xfrm>
          <a:prstGeom prst="roundRect">
            <a:avLst>
              <a:gd name="adj" fmla="val 21052"/>
            </a:avLst>
          </a:prstGeom>
          <a:noFill/>
          <a:ln>
            <a:noFill/>
          </a:ln>
          <a:scene3d>
            <a:camera prst="obliqueTopLeft"/>
            <a:lightRig rig="threePt" dir="t"/>
          </a:scene3d>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r>
              <a:rPr sz="6000" b="1" spc="-96" dirty="0">
                <a:solidFill>
                  <a:schemeClr val="tx1">
                    <a:lumMod val="85000"/>
                    <a:lumOff val="15000"/>
                  </a:schemeClr>
                </a:solidFill>
                <a:latin typeface="Segoe Script" panose="030B0504020000000003" pitchFamily="66" charset="0"/>
              </a:rPr>
              <a:t>Thank You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1146</TotalTime>
  <Words>766</Words>
  <Application>Microsoft Office PowerPoint</Application>
  <PresentationFormat>Custom</PresentationFormat>
  <Paragraphs>53</Paragraphs>
  <Slides>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Bebas Neue</vt:lpstr>
      <vt:lpstr>Bahnschrift Condensed</vt:lpstr>
      <vt:lpstr>Switzer 300</vt:lpstr>
      <vt:lpstr>Segoe Script</vt:lpstr>
      <vt:lpstr>Lora 400</vt:lpstr>
      <vt:lpstr>Arial</vt:lpstr>
      <vt:lpstr>Calibri</vt:lpstr>
      <vt:lpstr>Roboto</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Kiroo</cp:lastModifiedBy>
  <cp:revision>34</cp:revision>
  <dcterms:created xsi:type="dcterms:W3CDTF">2013-01-27T09:14:16Z</dcterms:created>
  <dcterms:modified xsi:type="dcterms:W3CDTF">2026-06-09T22:31:53Z</dcterms:modified>
  <cp:category/>
</cp:coreProperties>
</file>